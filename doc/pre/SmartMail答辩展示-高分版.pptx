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2ffe479b49c4984" /><Relationship Type="http://schemas.openxmlformats.org/officeDocument/2006/relationships/extended-properties" Target="/docProps/app.xml" Id="R9a60ffe4339a4bdc" /><Relationship Type="http://schemas.openxmlformats.org/officeDocument/2006/relationships/officeDocument" Target="/ppt/presentation.xml" Id="R60a3718f69ef4c7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a486d85bed64ab9"/>
  </p:sldMasterIdLst>
  <p:notesMasterIdLst>
    <p:notesMasterId xmlns:r="http://schemas.openxmlformats.org/officeDocument/2006/relationships" r:id="Reff186875e51479f"/>
  </p:notesMasterIdLst>
  <p:sldIdLst>
    <p:sldId xmlns:r="http://schemas.openxmlformats.org/officeDocument/2006/relationships" id="256" r:id="Rdf67e07a45174c4e"/>
    <p:sldId xmlns:r="http://schemas.openxmlformats.org/officeDocument/2006/relationships" id="257" r:id="R37ef7ad473624328"/>
    <p:sldId xmlns:r="http://schemas.openxmlformats.org/officeDocument/2006/relationships" id="258" r:id="Rbfa1d63633d74cc3"/>
    <p:sldId xmlns:r="http://schemas.openxmlformats.org/officeDocument/2006/relationships" id="259" r:id="Rfc4819584afd4dc7"/>
    <p:sldId xmlns:r="http://schemas.openxmlformats.org/officeDocument/2006/relationships" id="260" r:id="Rf530b20316c946ba"/>
    <p:sldId xmlns:r="http://schemas.openxmlformats.org/officeDocument/2006/relationships" id="261" r:id="Rfc3039215a6145dd"/>
    <p:sldId xmlns:r="http://schemas.openxmlformats.org/officeDocument/2006/relationships" id="262" r:id="Rd460ede3f7a94d05"/>
    <p:sldId xmlns:r="http://schemas.openxmlformats.org/officeDocument/2006/relationships" id="263" r:id="R58cdadd946b4451d"/>
    <p:sldId xmlns:r="http://schemas.openxmlformats.org/officeDocument/2006/relationships" id="264" r:id="R4a02d310416d482f"/>
    <p:sldId xmlns:r="http://schemas.openxmlformats.org/officeDocument/2006/relationships" id="265" r:id="Rc89ebce912c1496b"/>
    <p:sldId xmlns:r="http://schemas.openxmlformats.org/officeDocument/2006/relationships" id="266" r:id="R62f63b9b4e1f431f"/>
    <p:sldId xmlns:r="http://schemas.openxmlformats.org/officeDocument/2006/relationships" id="267" r:id="R36a30c215c9641c2"/>
    <p:sldId xmlns:r="http://schemas.openxmlformats.org/officeDocument/2006/relationships" id="268" r:id="Rca9f7563ab4c404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5f7605963b44acb" /><Relationship Type="http://schemas.openxmlformats.org/officeDocument/2006/relationships/slideMaster" Target="/ppt/slideMasters/slideMaster1.xml" Id="R5a486d85bed64ab9" /><Relationship Type="http://schemas.openxmlformats.org/officeDocument/2006/relationships/notesMaster" Target="/ppt/notesMasters/notesMaster1.xml" Id="Reff186875e51479f" /><Relationship Type="http://schemas.openxmlformats.org/officeDocument/2006/relationships/presProps" Target="/ppt/presProps.xml" Id="Rb3de348467494eed" /><Relationship Type="http://schemas.openxmlformats.org/officeDocument/2006/relationships/tableStyles" Target="/ppt/tableStyles.xml" Id="Rd51d93e782d54d74" /><Relationship Type="http://schemas.openxmlformats.org/officeDocument/2006/relationships/slide" Target="/ppt/slides/slide1.xml" Id="Rdf67e07a45174c4e" /><Relationship Type="http://schemas.openxmlformats.org/officeDocument/2006/relationships/slide" Target="/ppt/slides/slide2.xml" Id="R37ef7ad473624328" /><Relationship Type="http://schemas.openxmlformats.org/officeDocument/2006/relationships/slide" Target="/ppt/slides/slide3.xml" Id="Rbfa1d63633d74cc3" /><Relationship Type="http://schemas.openxmlformats.org/officeDocument/2006/relationships/slide" Target="/ppt/slides/slide4.xml" Id="Rfc4819584afd4dc7" /><Relationship Type="http://schemas.openxmlformats.org/officeDocument/2006/relationships/slide" Target="/ppt/slides/slide5.xml" Id="Rf530b20316c946ba" /><Relationship Type="http://schemas.openxmlformats.org/officeDocument/2006/relationships/slide" Target="/ppt/slides/slide6.xml" Id="Rfc3039215a6145dd" /><Relationship Type="http://schemas.openxmlformats.org/officeDocument/2006/relationships/slide" Target="/ppt/slides/slide7.xml" Id="Rd460ede3f7a94d05" /><Relationship Type="http://schemas.openxmlformats.org/officeDocument/2006/relationships/slide" Target="/ppt/slides/slide8.xml" Id="R58cdadd946b4451d" /><Relationship Type="http://schemas.openxmlformats.org/officeDocument/2006/relationships/slide" Target="/ppt/slides/slide9.xml" Id="R4a02d310416d482f" /><Relationship Type="http://schemas.openxmlformats.org/officeDocument/2006/relationships/slide" Target="/ppt/slides/slide10.xml" Id="Rc89ebce912c1496b" /><Relationship Type="http://schemas.openxmlformats.org/officeDocument/2006/relationships/slide" Target="/ppt/slides/slide11.xml" Id="R62f63b9b4e1f431f" /><Relationship Type="http://schemas.openxmlformats.org/officeDocument/2006/relationships/slide" Target="/ppt/slides/slide12.xml" Id="R36a30c215c9641c2" /><Relationship Type="http://schemas.openxmlformats.org/officeDocument/2006/relationships/slide" Target="/ppt/slides/slide13.xml" Id="Rca9f7563ab4c404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7c7b80602f84f2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e8abb9e91cd4f5b" /><Relationship Type="http://schemas.openxmlformats.org/officeDocument/2006/relationships/notesMaster" Target="/ppt/notesMasters/notesMaster1.xml" Id="R4e49e145a12b472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18c76cae6f646a1" /><Relationship Type="http://schemas.openxmlformats.org/officeDocument/2006/relationships/notesMaster" Target="/ppt/notesMasters/notesMaster1.xml" Id="R40f345f2913c49a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89026d123d64df2" /><Relationship Type="http://schemas.openxmlformats.org/officeDocument/2006/relationships/notesMaster" Target="/ppt/notesMasters/notesMaster1.xml" Id="Rd68a37fc7f11492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c855ed62c1d4333" /><Relationship Type="http://schemas.openxmlformats.org/officeDocument/2006/relationships/notesMaster" Target="/ppt/notesMasters/notesMaster1.xml" Id="R8b257acf2c84447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17bb8f0202f4465" /><Relationship Type="http://schemas.openxmlformats.org/officeDocument/2006/relationships/notesMaster" Target="/ppt/notesMasters/notesMaster1.xml" Id="Rbd2c0e63e52a4c5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793972e3c1f4bf9" /><Relationship Type="http://schemas.openxmlformats.org/officeDocument/2006/relationships/notesMaster" Target="/ppt/notesMasters/notesMaster1.xml" Id="R257923ad03ea481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bb450d7bb484b6b" /><Relationship Type="http://schemas.openxmlformats.org/officeDocument/2006/relationships/notesMaster" Target="/ppt/notesMasters/notesMaster1.xml" Id="R7ede43636652422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5e37a2c97d64d34" /><Relationship Type="http://schemas.openxmlformats.org/officeDocument/2006/relationships/notesMaster" Target="/ppt/notesMasters/notesMaster1.xml" Id="R613017e30e9d439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46abedea7884d21" /><Relationship Type="http://schemas.openxmlformats.org/officeDocument/2006/relationships/notesMaster" Target="/ppt/notesMasters/notesMaster1.xml" Id="Rf15d1dbd41a242b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4d9a73883464765" /><Relationship Type="http://schemas.openxmlformats.org/officeDocument/2006/relationships/notesMaster" Target="/ppt/notesMasters/notesMaster1.xml" Id="Re5daceea9e5d44a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db30361c704442c" /><Relationship Type="http://schemas.openxmlformats.org/officeDocument/2006/relationships/notesMaster" Target="/ppt/notesMasters/notesMaster1.xml" Id="Rd5ad118783f746f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634f4d4b80f4e1e" /><Relationship Type="http://schemas.openxmlformats.org/officeDocument/2006/relationships/notesMaster" Target="/ppt/notesMasters/notesMaster1.xml" Id="R78463c4551d04b7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a02c311a42144e1" /><Relationship Type="http://schemas.openxmlformats.org/officeDocument/2006/relationships/notesMaster" Target="/ppt/notesMasters/notesMaster1.xml" Id="R2297e4d23b1042b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930c85e95847e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68012b3a2ce4451" /><Relationship Type="http://schemas.openxmlformats.org/officeDocument/2006/relationships/slideLayout" Target="/ppt/slideLayouts/slideLayout1.xml" Id="R56b61e17a19c4be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6b61e17a19c4be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2317f329ed4f09" /><Relationship Type="http://schemas.openxmlformats.org/officeDocument/2006/relationships/notesSlide" Target="/ppt/notesSlides/notesSlide1.xml" Id="Raaf69887bc654ef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8f165c5d7440c8" /><Relationship Type="http://schemas.openxmlformats.org/officeDocument/2006/relationships/notesSlide" Target="/ppt/notesSlides/notesSlide2.xml" Id="Rec2464236c83493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487c50e1f6412b" /><Relationship Type="http://schemas.openxmlformats.org/officeDocument/2006/relationships/notesSlide" Target="/ppt/notesSlides/notesSlide3.xml" Id="R68bbb845c913457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f1dfc376a74b07" /><Relationship Type="http://schemas.openxmlformats.org/officeDocument/2006/relationships/notesSlide" Target="/ppt/notesSlides/notesSlide4.xml" Id="R4f4b93e1f881485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06625f8db54f9d" /><Relationship Type="http://schemas.openxmlformats.org/officeDocument/2006/relationships/notesSlide" Target="/ppt/notesSlides/notesSlide5.xml" Id="R2167022bc4c0461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b1cf24f18d48b8" /><Relationship Type="http://schemas.openxmlformats.org/officeDocument/2006/relationships/notesSlide" Target="/ppt/notesSlides/notesSlide6.xml" Id="Rdea5fdff13e1497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37ddb742464733" /><Relationship Type="http://schemas.openxmlformats.org/officeDocument/2006/relationships/notesSlide" Target="/ppt/notesSlides/notesSlide7.xml" Id="R49ebe025fde4451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59092d3d104495" /><Relationship Type="http://schemas.openxmlformats.org/officeDocument/2006/relationships/notesSlide" Target="/ppt/notesSlides/notesSlide8.xml" Id="R17a80293442f443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82bd0d27ee4f1d" /><Relationship Type="http://schemas.openxmlformats.org/officeDocument/2006/relationships/notesSlide" Target="/ppt/notesSlides/notesSlide9.xml" Id="R07e5b4f451dc43d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424a64ddd5446b" /><Relationship Type="http://schemas.openxmlformats.org/officeDocument/2006/relationships/notesSlide" Target="/ppt/notesSlides/notesSlide10.xml" Id="Rbffc0a74c4e7437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60dfd19a3c41db" /><Relationship Type="http://schemas.openxmlformats.org/officeDocument/2006/relationships/notesSlide" Target="/ppt/notesSlides/notesSlide11.xml" Id="Raefb0a3d43bb496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d6c74f03bb4d22" /><Relationship Type="http://schemas.openxmlformats.org/officeDocument/2006/relationships/notesSlide" Target="/ppt/notesSlides/notesSlide12.xml" Id="Rcde27a04b8364a4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3fca66de68472d" /><Relationship Type="http://schemas.openxmlformats.org/officeDocument/2006/relationships/notesSlide" Target="/ppt/notesSlides/notesSlide13.xml" Id="R725c41f26f73404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02FA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9C75535-8831-45AB-B8B1-A65ED35FF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BE4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825" b="1">
                <a:solidFill>
                  <a:srgbClr val="DBE4FF"/>
                </a:solidFill>
                <a:latin typeface="JetBrains Mono"/>
                <a:ea typeface="JetBrains Mono"/>
                <a:cs typeface="JetBrains Mono"/>
              </a:rPr>
              <a:t>SMARTMAIL · DEFENSE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CCC8E1-E89D-43E2-B5DA-21E481AD2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619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DBE4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825" b="1">
                <a:solidFill>
                  <a:srgbClr val="DBE4FF"/>
                </a:solidFill>
                <a:latin typeface="JetBrains Mono"/>
                <a:ea typeface="JetBrains Mono"/>
                <a:cs typeface="JetBrains Mono"/>
              </a:rPr>
              <a:t>01 / 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C49BEE-6708-488E-9957-BCBE0C1D6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9334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950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4950" b="0">
                <a:solidFill>
                  <a:srgbClr val="FFFFFF"/>
                </a:solidFill>
                <a:latin typeface="Inter"/>
                <a:ea typeface="Inter"/>
                <a:cs typeface="Inter"/>
              </a:rPr>
              <a:t>SmartMail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8D5135-AF23-4743-B276-44793D1F1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723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0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3900" b="0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AI 邮件工作台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3D29F9-6CB7-420D-A7B3-06E22F964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>
                    <a:alpha val="86667"/>
                  </a:srgbClr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0">
                <a:solidFill>
                  <a:srgbClr val="FFFFFF">
                    <a:alpha val="86667"/>
                  </a:srgbClr>
                </a:solidFill>
                <a:latin typeface="Microsoft YaHei UI"/>
                <a:ea typeface="Microsoft YaHei UI"/>
                <a:cs typeface="Microsoft YaHei UI"/>
              </a:rPr>
              <a:t>基础邮箱完整可用，AI Plugin 可插拔增强。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C6F3BC-AD4B-4975-BB5D-43269B419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53100"/>
            <a:ext cx="819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>
                    <a:alpha val="66667"/>
                  </a:srgbClr>
                </a:solidFill>
                <a:latin typeface="JetBrains Mono"/>
                <a:ea typeface="JetBrains Mono"/>
                <a:cs typeface="JetBrains Mono"/>
              </a:defRPr>
            </a:pPr>
            <a:r>
              <a:rPr sz="1050" b="1">
                <a:solidFill>
                  <a:srgbClr val="FFFFFF">
                    <a:alpha val="66667"/>
                  </a:srgbClr>
                </a:solidFill>
                <a:latin typeface="JetBrains Mono"/>
                <a:ea typeface="JetBrains Mono"/>
                <a:cs typeface="JetBrains Mono"/>
              </a:rPr>
              <a:t>Vue 3 / Spring Boot 3 / FastAPI Agent / DeepSeek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12265E-4B4C-4FF6-8E5B-3BDD90917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143000"/>
            <a:ext cx="990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5E1B4C-E6C4-4B8D-9023-BE8CBD91E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1336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65D2DB-7ABB-46DB-BFE7-8E55A4CB9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12420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6667"/>
            </a:srgbClr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89857619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625618A-B55F-42BE-B3E5-5AE602EDF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defRPr>
            </a:pPr>
            <a:r>
              <a:rPr sz="825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rPr>
              <a:t>SMARTMAIL DEFENSE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703789-D8CB-45F8-9352-ACD3EAFC2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619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defRPr>
            </a:pPr>
            <a:r>
              <a:rPr sz="825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rPr>
              <a:t>02 / 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39F8F1-E559-48E7-8256-2491ECF64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rPr>
              <a:t>COURSE ALIGNMENT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3546C8-B02A-4D2A-82DE-CB38AF87F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8572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0A0A0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3150" b="0">
                <a:solidFill>
                  <a:srgbClr val="0A0A0A"/>
                </a:solidFill>
                <a:latin typeface="Microsoft YaHei UI"/>
                <a:ea typeface="Microsoft YaHei UI"/>
                <a:cs typeface="Microsoft YaHei UI"/>
              </a:rPr>
              <a:t>课程要求不是清单，而是我们的验收轴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1C1E98-FFD4-4911-8D45-BAA223EBE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95500"/>
            <a:ext cx="800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3737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737373"/>
                </a:solidFill>
                <a:latin typeface="Microsoft YaHei UI"/>
                <a:ea typeface="Microsoft YaHei UI"/>
                <a:cs typeface="Microsoft YaHei UI"/>
              </a:rPr>
              <a:t>按实训要求拆成基础邮件、智能插件、工程文档和答辩演示四条主线。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683B01-E9DE-4C11-9887-F6AB801DD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52750"/>
            <a:ext cx="238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20E711-74C2-4FFF-8F39-AE7239991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24200"/>
            <a:ext cx="238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002FA7"/>
                </a:solidFill>
                <a:latin typeface="Inter"/>
                <a:ea typeface="Inter"/>
                <a:cs typeface="Inter"/>
              </a:defRPr>
            </a:pPr>
            <a:r>
              <a:rPr sz="3600" b="0">
                <a:solidFill>
                  <a:srgbClr val="002FA7"/>
                </a:solidFill>
                <a:latin typeface="Inter"/>
                <a:ea typeface="Inter"/>
                <a:cs typeface="Inter"/>
              </a:rPr>
              <a:t>100%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015CE5-88B1-4E2D-B905-9192BBF0A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719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defRPr>
            </a:pPr>
            <a:r>
              <a:rPr sz="825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rPr>
              <a:t>基础邮件闭环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D27453-9232-43C0-946E-C0C6A29C7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1955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3737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0">
                <a:solidFill>
                  <a:srgbClr val="737373"/>
                </a:solidFill>
                <a:latin typeface="Microsoft YaHei UI"/>
                <a:ea typeface="Microsoft YaHei UI"/>
                <a:cs typeface="Microsoft YaHei UI"/>
              </a:rPr>
              <a:t>注册、登录、站内收发、拉取、附件、搜索、删除、已读未读。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7A0F2E-BBBF-447C-8797-6FBEA3876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952750"/>
            <a:ext cx="238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2EED21-9652-4173-9016-3C6DB3195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124200"/>
            <a:ext cx="238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0A0A0A"/>
                </a:solidFill>
                <a:latin typeface="Inter"/>
                <a:ea typeface="Inter"/>
                <a:cs typeface="Inter"/>
              </a:defRPr>
            </a:pPr>
            <a:r>
              <a:rPr sz="3600" b="0">
                <a:solidFill>
                  <a:srgbClr val="0A0A0A"/>
                </a:solidFill>
                <a:latin typeface="Inter"/>
                <a:ea typeface="Inter"/>
                <a:cs typeface="Inter"/>
              </a:rPr>
              <a:t>HTTP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F0EFE8-71F0-486F-82EE-DE8E2887C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7719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defRPr>
            </a:pPr>
            <a:r>
              <a:rPr sz="825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rPr>
              <a:t>自定义协议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D2134F-0234-41A8-B50F-56874D144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01955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3737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0">
                <a:solidFill>
                  <a:srgbClr val="737373"/>
                </a:solidFill>
                <a:latin typeface="Microsoft YaHei UI"/>
                <a:ea typeface="Microsoft YaHei UI"/>
                <a:cs typeface="Microsoft YaHei UI"/>
              </a:rPr>
              <a:t>课程允许基于 HTTP 上层实现，同服务器内不做跨服传递。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415321-E5EA-4A37-898F-9AC79DD43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952750"/>
            <a:ext cx="238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44DF29-05AA-4FE1-A627-5E2693F38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124200"/>
            <a:ext cx="238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0A0A0A"/>
                </a:solidFill>
                <a:latin typeface="Inter"/>
                <a:ea typeface="Inter"/>
                <a:cs typeface="Inter"/>
              </a:defRPr>
            </a:pPr>
            <a:r>
              <a:rPr sz="3600" b="0">
                <a:solidFill>
                  <a:srgbClr val="0A0A0A"/>
                </a:solidFill>
                <a:latin typeface="Inter"/>
                <a:ea typeface="Inter"/>
                <a:cs typeface="Inter"/>
              </a:rPr>
              <a:t>AI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AE2513-5728-486C-B2A0-8D133BAB0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7719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defRPr>
            </a:pPr>
            <a:r>
              <a:rPr sz="825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rPr>
              <a:t>插件融合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DAAB2F-99D5-4EC8-8029-79B5D8548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01955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3737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0">
                <a:solidFill>
                  <a:srgbClr val="737373"/>
                </a:solidFill>
                <a:latin typeface="Microsoft YaHei UI"/>
                <a:ea typeface="Microsoft YaHei UI"/>
                <a:cs typeface="Microsoft YaHei UI"/>
              </a:rPr>
              <a:t>可关闭、可配置、可降级；基础邮箱不依赖 AI。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1E4B0C-248A-4072-A70E-09892165B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952750"/>
            <a:ext cx="238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AED4E6-7337-4163-B367-AAD7B6642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124200"/>
            <a:ext cx="238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0A0A0A"/>
                </a:solidFill>
                <a:latin typeface="Inter"/>
                <a:ea typeface="Inter"/>
                <a:cs typeface="Inter"/>
              </a:defRPr>
            </a:pPr>
            <a:r>
              <a:rPr sz="3600" b="0">
                <a:solidFill>
                  <a:srgbClr val="0A0A0A"/>
                </a:solidFill>
                <a:latin typeface="Inter"/>
                <a:ea typeface="Inter"/>
                <a:cs typeface="Inter"/>
              </a:rPr>
              <a:t>40%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4DCBF8-D363-4E0A-874E-A7BB771B4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7719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defRPr>
            </a:pPr>
            <a:r>
              <a:rPr sz="825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rPr>
              <a:t>答辩权重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EB45F22-43C1-4B2C-8FBD-21802C558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01955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3737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0">
                <a:solidFill>
                  <a:srgbClr val="737373"/>
                </a:solidFill>
                <a:latin typeface="Microsoft YaHei UI"/>
                <a:ea typeface="Microsoft YaHei UI"/>
                <a:cs typeface="Microsoft YaHei UI"/>
              </a:rPr>
              <a:t>PPT 展示和系统完成质量共同决定答辩表现。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C0DC22B-C878-457F-B9F3-7A6FCA074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43CE40-4A6E-4779-9DBF-8ADE6F815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defRPr>
            </a:pPr>
            <a:r>
              <a:rPr sz="825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rPr>
              <a:t>SOURCE · doc/2026年实训要求.pdf + docs/design/course-alignment.md</a:t>
            </a:r>
          </a:p>
        </p:txBody>
      </p:sp>
    </p:spTree>
    <p:extLst>
      <p:ext uri="{BB962C8B-B14F-4D97-AF65-F5344CB8AC3E}">
        <p14:creationId xmlns:p14="http://schemas.microsoft.com/office/powerpoint/2010/main" val="97061675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AA9B27E-E5CE-41D9-B360-0E4D3BBEC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BE4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825" b="1">
                <a:solidFill>
                  <a:srgbClr val="DBE4FF"/>
                </a:solidFill>
                <a:latin typeface="JetBrains Mono"/>
                <a:ea typeface="JetBrains Mono"/>
                <a:cs typeface="JetBrains Mono"/>
              </a:rPr>
              <a:t>PRODUCT POSITIONING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1621C1-0332-4A28-BB1A-BB7019B8C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619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DBE4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825" b="1">
                <a:solidFill>
                  <a:srgbClr val="DBE4FF"/>
                </a:solidFill>
                <a:latin typeface="JetBrains Mono"/>
                <a:ea typeface="JetBrains Mono"/>
                <a:cs typeface="JetBrains Mono"/>
              </a:rPr>
              <a:t>03 / 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33FB2E-D360-46B2-ABFD-A5BA559F3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23950"/>
            <a:ext cx="495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0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4350" b="0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一个系统，</a:t>
            </a:r>
          </a:p>
          <a:p xmlns:a="http://schemas.openxmlformats.org/drawingml/2006/main">
            <a:pPr algn="l">
              <a:defRPr sz="4350" b="0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4350" b="0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两种形态。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0167C7-EA01-4E3C-A055-2728F7CDA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200150"/>
            <a:ext cx="4476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E0DE30-6BE6-4477-9983-B1642730D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39065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A0A0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0A0A0A"/>
                </a:solidFill>
                <a:latin typeface="Microsoft YaHei UI"/>
                <a:ea typeface="Microsoft YaHei UI"/>
                <a:cs typeface="Microsoft YaHei UI"/>
              </a:rPr>
              <a:t>Basic Mail Mode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E26C76-D82D-41BC-AA13-FD07DB143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90700"/>
            <a:ext cx="4095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3737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737373"/>
                </a:solidFill>
                <a:latin typeface="Microsoft YaHei UI"/>
                <a:ea typeface="Microsoft YaHei UI"/>
                <a:cs typeface="Microsoft YaHei UI"/>
              </a:rPr>
              <a:t>关闭 AI Plugin 后，仍可完成注册、登录、收发、附件、搜索、分类、同步和通知。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E29FAA-5B25-419E-A21E-F314297E8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57500"/>
            <a:ext cx="447675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FA7"/>
          </a:solidFill>
          <a:ln xmlns:a="http://schemas.openxmlformats.org/drawingml/2006/main" w="0">
            <a:solidFill>
              <a:srgbClr val="002FA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3DA476-443B-4973-A8AD-A95C119DA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4800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AI Mail Workspace Mode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958E19-42CF-4643-8674-C49FF94D6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448050"/>
            <a:ext cx="4095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>
                    <a:alpha val="86667"/>
                  </a:srgbClr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FFFFFF">
                    <a:alpha val="86667"/>
                  </a:srgbClr>
                </a:solidFill>
                <a:latin typeface="Microsoft YaHei UI"/>
                <a:ea typeface="Microsoft YaHei UI"/>
                <a:cs typeface="Microsoft YaHei UI"/>
              </a:rPr>
              <a:t>开启 AI 后，邮件列表出现摘要、分类、优先级、风险提示；右侧详情提供当前邮件 Agent。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9BA00A-6466-4E5A-9071-33C0B5593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34000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>
                    <a:alpha val="80000"/>
                  </a:srgbClr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0">
                <a:solidFill>
                  <a:srgbClr val="FFFFFF">
                    <a:alpha val="80000"/>
                  </a:srgbClr>
                </a:solidFill>
                <a:latin typeface="Microsoft YaHei UI"/>
                <a:ea typeface="Microsoft YaHei UI"/>
                <a:cs typeface="Microsoft YaHei UI"/>
              </a:rPr>
              <a:t>设计原则：AI 是增强层，不是基础邮箱的单点依赖。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1FE8F0-949C-4CA3-8650-FB3955DFC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659064-2A45-4821-9F39-4A7C5509F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>
                    <a:alpha val="60000"/>
                  </a:srgbClr>
                </a:solidFill>
                <a:latin typeface="JetBrains Mono"/>
                <a:ea typeface="JetBrains Mono"/>
                <a:cs typeface="JetBrains Mono"/>
              </a:defRPr>
            </a:pPr>
            <a:r>
              <a:rPr sz="825" b="1">
                <a:solidFill>
                  <a:srgbClr val="FFFFFF">
                    <a:alpha val="60000"/>
                  </a:srgbClr>
                </a:solidFill>
                <a:latin typeface="JetBrains Mono"/>
                <a:ea typeface="JetBrains Mono"/>
                <a:cs typeface="JetBrains Mono"/>
              </a:rPr>
              <a:t>POSITION · Complete mail system first, AI workspace second</a:t>
            </a:r>
          </a:p>
        </p:txBody>
      </p:sp>
    </p:spTree>
    <p:extLst>
      <p:ext uri="{BB962C8B-B14F-4D97-AF65-F5344CB8AC3E}">
        <p14:creationId xmlns:p14="http://schemas.microsoft.com/office/powerpoint/2010/main" val="13801908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8730B63-8A4A-4448-AB29-A7352B26C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defRPr>
            </a:pPr>
            <a:r>
              <a:rPr sz="825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rPr>
              <a:t>SMARTMAIL DEFENSE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0B4BD7-F122-4141-9778-5A19E2EBF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619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defRPr>
            </a:pPr>
            <a:r>
              <a:rPr sz="825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rPr>
              <a:t>04 / 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EF31AD-C86B-4FD1-9642-78225AFC8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rPr>
              <a:t>SYSTEM ARCHITECTURE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F8DA02-8DA3-40A3-8BDC-922F6E117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8572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0A0A0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3150" b="0">
                <a:solidFill>
                  <a:srgbClr val="0A0A0A"/>
                </a:solidFill>
                <a:latin typeface="Microsoft YaHei UI"/>
                <a:ea typeface="Microsoft YaHei UI"/>
                <a:cs typeface="Microsoft YaHei UI"/>
              </a:rPr>
              <a:t>三服务架构把体验、业务和 AI 解耦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23D5DD-B1E8-4641-8BBE-8F3EACD5F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95500"/>
            <a:ext cx="800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3737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737373"/>
                </a:solidFill>
                <a:latin typeface="Microsoft YaHei UI"/>
                <a:ea typeface="Microsoft YaHei UI"/>
                <a:cs typeface="Microsoft YaHei UI"/>
              </a:rPr>
              <a:t>前端只连后端，Agent 通过 Internal Tool API 访问业务数据，不直连数据库。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7E3146-89EE-4A8F-B9B7-86A808AED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43250"/>
            <a:ext cx="26670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95A59E-7A76-4828-B765-8DA1EE03D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3375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A0A0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0A0A0A"/>
                </a:solidFill>
                <a:latin typeface="Microsoft YaHei UI"/>
                <a:ea typeface="Microsoft YaHei UI"/>
                <a:cs typeface="Microsoft YaHei UI"/>
              </a:rPr>
              <a:t>Vue 3 Workspace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E11407-6846-4F4F-88C6-75C3EDACA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33800"/>
            <a:ext cx="228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3737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737373"/>
                </a:solidFill>
                <a:latin typeface="Microsoft YaHei UI"/>
                <a:ea typeface="Microsoft YaHei UI"/>
                <a:cs typeface="Microsoft YaHei UI"/>
              </a:rPr>
              <a:t>三栏工作台、Compose、Detail Drawer、AgentChatPanel、Pinia 状态。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377D89-8233-4D37-9095-3A612B6B2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143250"/>
            <a:ext cx="26670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FA7"/>
          </a:solidFill>
          <a:ln xmlns:a="http://schemas.openxmlformats.org/drawingml/2006/main" w="0">
            <a:solidFill>
              <a:srgbClr val="002FA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2B4AA5-A6A6-4BC7-B761-26305DA36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33375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Spring Boot Core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18A595-0A7A-4717-8DE1-762CBD00B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733800"/>
            <a:ext cx="228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>
                    <a:alpha val="86667"/>
                  </a:srgbClr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FFFFFF">
                    <a:alpha val="86667"/>
                  </a:srgbClr>
                </a:solidFill>
                <a:latin typeface="Microsoft YaHei UI"/>
                <a:ea typeface="Microsoft YaHei UI"/>
                <a:cs typeface="Microsoft YaHei UI"/>
              </a:rPr>
              <a:t>认证、邮件、邮箱条目、附件、分类、搜索、分析任务、权限中心。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EE527F-59F6-4B5E-A14D-BF95133F5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143250"/>
            <a:ext cx="26670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A7B1A8-054A-43B2-A22C-CB9D8D750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33375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A0A0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0A0A0A"/>
                </a:solidFill>
                <a:latin typeface="Microsoft YaHei UI"/>
                <a:ea typeface="Microsoft YaHei UI"/>
                <a:cs typeface="Microsoft YaHei UI"/>
              </a:rPr>
              <a:t>FastAPI Agent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9A0489-414B-42A8-A6E6-B8F52504D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733800"/>
            <a:ext cx="228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3737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737373"/>
                </a:solidFill>
                <a:latin typeface="Microsoft YaHei UI"/>
                <a:ea typeface="Microsoft YaHei UI"/>
                <a:cs typeface="Microsoft YaHei UI"/>
              </a:rPr>
              <a:t>自动分析、交互式 Tool Router、规则 fallback、DeepSeek Provider。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D7D98D-5CED-4AF8-9FD7-8868B9479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667125"/>
            <a:ext cx="857250" cy="4286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2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63C465-D00A-4D9E-9C58-F93DEF5A4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667125"/>
            <a:ext cx="857250" cy="4286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2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2F38CF-BBB6-4016-AC18-8287B256B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25755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rPr>
              <a:t>HTTP REST / Workspace View API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18C089-13BB-42E1-BD95-C8EE01DEC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25755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rPr>
              <a:t>HTTP / Internal Tool API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2B03EE-29EE-4124-A7D8-8D504C9D1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07E1CF-7FF9-4B84-B3BD-794C6F5AC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defRPr>
            </a:pPr>
            <a:r>
              <a:rPr sz="825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rPr>
              <a:t>BOUNDARY · Frontend never talks to Agent or DB directly</a:t>
            </a:r>
          </a:p>
        </p:txBody>
      </p:sp>
    </p:spTree>
    <p:extLst>
      <p:ext uri="{BB962C8B-B14F-4D97-AF65-F5344CB8AC3E}">
        <p14:creationId xmlns:p14="http://schemas.microsoft.com/office/powerpoint/2010/main" val="133317375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9C0ECD5-BE86-4003-9DD4-CC595CCF2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defRPr>
            </a:pPr>
            <a:r>
              <a:rPr sz="825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rPr>
              <a:t>SMARTMAIL DEFENSE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D6589E-D1F2-45F7-AB4B-B6190260C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619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defRPr>
            </a:pPr>
            <a:r>
              <a:rPr sz="825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rPr>
              <a:t>05 / 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34E907-DB92-4C66-A9AA-3EB9F2C91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rPr>
              <a:t>PROTOCOL DESIGN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46BC53-0950-404C-B01B-91C8934C1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8572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0A0A0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3150" b="0">
                <a:solidFill>
                  <a:srgbClr val="0A0A0A"/>
                </a:solidFill>
                <a:latin typeface="Microsoft YaHei UI"/>
                <a:ea typeface="Microsoft YaHei UI"/>
                <a:cs typeface="Microsoft YaHei UI"/>
              </a:rPr>
              <a:t>我们实现的是自定义 HTTP 邮件协议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F90BE2-5F03-4049-B9B9-C0C62245D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95500"/>
            <a:ext cx="800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3737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737373"/>
                </a:solidFill>
                <a:latin typeface="Microsoft YaHei UI"/>
                <a:ea typeface="Microsoft YaHei UI"/>
                <a:cs typeface="Microsoft YaHei UI"/>
              </a:rPr>
              <a:t>不是没有协议，而是用 REST 方法表达邮件报文动作和状态变更。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2417D7-9D15-4B3C-927B-354BBD1AE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14650"/>
            <a:ext cx="2381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FA7"/>
          </a:solidFill>
          <a:ln xmlns:a="http://schemas.openxmlformats.org/drawingml/2006/main" w="0">
            <a:solidFill>
              <a:srgbClr val="002FA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9B057E-52EB-4144-A76D-62F91407A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051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POST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CFD9BD-3D0F-47AB-A542-33F89A8A3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05200"/>
            <a:ext cx="20002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>
                    <a:alpha val="86667"/>
                  </a:srgbClr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FFFFFF">
                    <a:alpha val="86667"/>
                  </a:srgbClr>
                </a:solidFill>
                <a:latin typeface="Microsoft YaHei UI"/>
                <a:ea typeface="Microsoft YaHei UI"/>
                <a:cs typeface="Microsoft YaHei UI"/>
              </a:rPr>
              <a:t>发送邮件：收件人、抄送、密送、主题、正文、附件引用、时间戳。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EEC504-D569-4352-A5CA-B688DEE44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914650"/>
            <a:ext cx="2381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19F373-ACC9-421B-928D-132B64B59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1051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A0A0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0A0A0A"/>
                </a:solidFill>
                <a:latin typeface="Microsoft YaHei UI"/>
                <a:ea typeface="Microsoft YaHei UI"/>
                <a:cs typeface="Microsoft YaHei UI"/>
              </a:rPr>
              <a:t>GET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B7273D-BA99-4549-B5C8-DCFE529AF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505200"/>
            <a:ext cx="20002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3737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737373"/>
                </a:solidFill>
                <a:latin typeface="Microsoft YaHei UI"/>
                <a:ea typeface="Microsoft YaHei UI"/>
                <a:cs typeface="Microsoft YaHei UI"/>
              </a:rPr>
              <a:t>拉取邮件：视图、文件夹、分类、关键词、分页和详情。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6B9AFF-9540-4B86-A862-4FE9AC31C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914650"/>
            <a:ext cx="2381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247D52-D957-4B1B-8D74-F425B5766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1051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A0A0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0A0A0A"/>
                </a:solidFill>
                <a:latin typeface="Microsoft YaHei UI"/>
                <a:ea typeface="Microsoft YaHei UI"/>
                <a:cs typeface="Microsoft YaHei UI"/>
              </a:rPr>
              <a:t>PATCH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0BF8CF-1E64-4504-8FC3-0941602F8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05200"/>
            <a:ext cx="20002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3737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737373"/>
                </a:solidFill>
                <a:latin typeface="Microsoft YaHei UI"/>
                <a:ea typeface="Microsoft YaHei UI"/>
                <a:cs typeface="Microsoft YaHei UI"/>
              </a:rPr>
              <a:t>更新状态：已读、星标、分类、移动、恢复、设置。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25B06F-5240-47CF-A2DE-6097E150B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914650"/>
            <a:ext cx="2381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1A5558-7ACF-4F67-B8C3-9B9DF8DC4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1051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A0A0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0A0A0A"/>
                </a:solidFill>
                <a:latin typeface="Microsoft YaHei UI"/>
                <a:ea typeface="Microsoft YaHei UI"/>
                <a:cs typeface="Microsoft YaHei UI"/>
              </a:rPr>
              <a:t>DELETE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25A5B2-99E6-4834-9538-DC2E12CCE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505200"/>
            <a:ext cx="20002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3737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737373"/>
                </a:solidFill>
                <a:latin typeface="Microsoft YaHei UI"/>
                <a:ea typeface="Microsoft YaHei UI"/>
                <a:cs typeface="Microsoft YaHei UI"/>
              </a:rPr>
              <a:t>用户视角软删除：只影响当前用户的 Mailbox Item。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34FF80-E1C0-4BFF-A00D-BD671D8D1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A0A0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0">
                <a:solidFill>
                  <a:srgbClr val="0A0A0A"/>
                </a:solidFill>
                <a:latin typeface="Microsoft YaHei UI"/>
                <a:ea typeface="Microsoft YaHei UI"/>
                <a:cs typeface="Microsoft YaHei UI"/>
              </a:rPr>
              <a:t>附件不塞进正文：正文入库，附件落盘，数据库保存 MIME、大小、路径和权限。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D1B8F1-EBF1-414B-B19D-3C416F48F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94524C-6F8D-45C3-980D-5EB3AAB2B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defRPr>
            </a:pPr>
            <a:r>
              <a:rPr sz="825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rPr>
              <a:t>COURSE FIT · HTTP custom application protocol is explicitly allowed</a:t>
            </a:r>
          </a:p>
        </p:txBody>
      </p:sp>
    </p:spTree>
    <p:extLst>
      <p:ext uri="{BB962C8B-B14F-4D97-AF65-F5344CB8AC3E}">
        <p14:creationId xmlns:p14="http://schemas.microsoft.com/office/powerpoint/2010/main" val="100979941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AB3A7A5-E4E5-4DA0-B981-E306BE65A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defRPr>
            </a:pPr>
            <a:r>
              <a:rPr sz="825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rPr>
              <a:t>SMARTMAIL DEFENSE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AD07FB-90DE-4154-B2AD-6B826591F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619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defRPr>
            </a:pPr>
            <a:r>
              <a:rPr sz="825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rPr>
              <a:t>06 / 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C0BE14-CCD9-4FFF-9A52-B29125216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rPr>
              <a:t>DATA MODEL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9DF693-0131-40F9-81EB-1BF3CC1D9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8572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0A0A0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3150" b="0">
                <a:solidFill>
                  <a:srgbClr val="0A0A0A"/>
                </a:solidFill>
                <a:latin typeface="Microsoft YaHei UI"/>
                <a:ea typeface="Microsoft YaHei UI"/>
                <a:cs typeface="Microsoft YaHei UI"/>
              </a:rPr>
              <a:t>邮件原文与用户视图分离，是系统可扩展的关键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8509BD-1B52-4B07-A8CD-2733283ED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95500"/>
            <a:ext cx="800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3737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737373"/>
                </a:solidFill>
                <a:latin typeface="Microsoft YaHei UI"/>
                <a:ea typeface="Microsoft YaHei UI"/>
                <a:cs typeface="Microsoft YaHei UI"/>
              </a:rPr>
              <a:t>一封邮件只有一份正文，但每个用户都有自己的位置、已读、星标、删除和优先级。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C9FE29-6190-4D1E-A3C9-2EA0312CA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67050"/>
            <a:ext cx="28575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A2EBDA-2784-4C60-A1BA-4D7A730F7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575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A0A0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0A0A0A"/>
                </a:solidFill>
                <a:latin typeface="Microsoft YaHei UI"/>
                <a:ea typeface="Microsoft YaHei UI"/>
                <a:cs typeface="Microsoft YaHei UI"/>
              </a:rPr>
              <a:t>mail_message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2FD45A-8C88-43B5-AD82-9C2982785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57600"/>
            <a:ext cx="247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3737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737373"/>
                </a:solidFill>
                <a:latin typeface="Microsoft YaHei UI"/>
                <a:ea typeface="Microsoft YaHei UI"/>
                <a:cs typeface="Microsoft YaHei UI"/>
              </a:rPr>
              <a:t>邮件正文、主题、发送人、发送时间。作为邮件原文，不承载某个用户的私有状态。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3C49DE-5823-4908-A49E-FF2FF8D13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067050"/>
            <a:ext cx="28575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FA7"/>
          </a:solidFill>
          <a:ln xmlns:a="http://schemas.openxmlformats.org/drawingml/2006/main" w="0">
            <a:solidFill>
              <a:srgbClr val="002FA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D55AD9-4247-44D4-84A1-1678FE2F3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2575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mailbox_item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9465EC-2D71-45AF-A441-C2D72DD39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657600"/>
            <a:ext cx="247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>
                    <a:alpha val="86667"/>
                  </a:srgbClr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FFFFFF">
                    <a:alpha val="86667"/>
                  </a:srgbClr>
                </a:solidFill>
                <a:latin typeface="Microsoft YaHei UI"/>
                <a:ea typeface="Microsoft YaHei UI"/>
                <a:cs typeface="Microsoft YaHei UI"/>
              </a:rPr>
              <a:t>用户视角条目：folder、read、starred、deletedFlag、priority、category。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684314-434F-42CE-8CA5-4D813B0FE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067050"/>
            <a:ext cx="28575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F7B0C4-8054-4BA6-8C21-7C9EA9E0C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2575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A0A0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0A0A0A"/>
                </a:solidFill>
                <a:latin typeface="Microsoft YaHei UI"/>
                <a:ea typeface="Microsoft YaHei UI"/>
                <a:cs typeface="Microsoft YaHei UI"/>
              </a:rPr>
              <a:t>mail_attachment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4AD650-F312-46C1-BF5B-88B76D609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657600"/>
            <a:ext cx="247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3737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737373"/>
                </a:solidFill>
                <a:latin typeface="Microsoft YaHei UI"/>
                <a:ea typeface="Microsoft YaHei UI"/>
                <a:cs typeface="Microsoft YaHei UI"/>
              </a:rPr>
              <a:t>附件文件落盘，数据库保留元信息和授权下载关系。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0EE849-0F6D-4165-9A94-20AF3AF5F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476625"/>
            <a:ext cx="57150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2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91BB1A-68C6-4535-AAEF-3485D4CAD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476625"/>
            <a:ext cx="57150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2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6AE174-790D-44F6-B719-1CE3607C6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24450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A0A0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75" b="0">
                <a:solidFill>
                  <a:srgbClr val="0A0A0A"/>
                </a:solidFill>
                <a:latin typeface="Microsoft YaHei UI"/>
                <a:ea typeface="Microsoft YaHei UI"/>
                <a:cs typeface="Microsoft YaHei UI"/>
              </a:rPr>
              <a:t>效果：A 删除邮件，不影响 B 的收件箱，也不影响发件人的 Sent。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16932A-B7F3-4523-A9B0-2742DDDA8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FFA34D-2A44-41FD-A827-508DD7C65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defRPr>
            </a:pPr>
            <a:r>
              <a:rPr sz="825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rPr>
              <a:t>MODEL · mail_message / mailbox_item / mail_attachment / ai_analysis_task</a:t>
            </a:r>
          </a:p>
        </p:txBody>
      </p:sp>
    </p:spTree>
    <p:extLst>
      <p:ext uri="{BB962C8B-B14F-4D97-AF65-F5344CB8AC3E}">
        <p14:creationId xmlns:p14="http://schemas.microsoft.com/office/powerpoint/2010/main" val="152484744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0F0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F61113B-AB5E-4A0D-B1E2-C7A821597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defRPr>
            </a:pPr>
            <a:r>
              <a:rPr sz="825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rPr>
              <a:t>SMARTMAIL DEFENSE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93F0AF-4AA5-4F79-93C8-8039BFFF3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619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defRPr>
            </a:pPr>
            <a:r>
              <a:rPr sz="825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rPr>
              <a:t>07 / 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CF7F67-B6A4-4396-906A-D2E677C0B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rPr>
              <a:t>WORKSPACE UI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4FB979-E95E-45DA-966F-9C7530F81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8572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0A0A0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3150" b="0">
                <a:solidFill>
                  <a:srgbClr val="0A0A0A"/>
                </a:solidFill>
                <a:latin typeface="Microsoft YaHei UI"/>
                <a:ea typeface="Microsoft YaHei UI"/>
                <a:cs typeface="Microsoft YaHei UI"/>
              </a:rPr>
              <a:t>工作台不是美化项，是评分项本身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628A40-D4B7-4AA7-B44D-12AAD8ADE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95500"/>
            <a:ext cx="800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3737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737373"/>
                </a:solidFill>
                <a:latin typeface="Microsoft YaHei UI"/>
                <a:ea typeface="Microsoft YaHei UI"/>
                <a:cs typeface="Microsoft YaHei UI"/>
              </a:rPr>
              <a:t>三栏布局把课程功能和 AI 结果放进同一个高频使用界面。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FA393D-275D-4F77-873D-9D3B6F192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28950"/>
            <a:ext cx="2381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C06B55-5824-4296-8A66-EA9E6A732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194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A0A0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0A0A0A"/>
                </a:solidFill>
                <a:latin typeface="Microsoft YaHei UI"/>
                <a:ea typeface="Microsoft YaHei UI"/>
                <a:cs typeface="Microsoft YaHei UI"/>
              </a:rPr>
              <a:t>左侧导航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BBB2D5-9962-474F-8650-09F3E01FA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19500"/>
            <a:ext cx="2000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3737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737373"/>
                </a:solidFill>
                <a:latin typeface="Microsoft YaHei UI"/>
                <a:ea typeface="Microsoft YaHei UI"/>
                <a:cs typeface="Microsoft YaHei UI"/>
              </a:rPr>
              <a:t>Views、Folders、Categories、Global Agent、User Settings。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027500-3C8D-468E-AF07-B800FCA83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028950"/>
            <a:ext cx="2381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FA7"/>
          </a:solidFill>
          <a:ln xmlns:a="http://schemas.openxmlformats.org/drawingml/2006/main" w="0">
            <a:solidFill>
              <a:srgbClr val="002FA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DE6329-EA56-4DEF-94C0-BA0E7CF31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2194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中栏列表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6E8FA4-33D1-40D7-B959-90FB818EF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619500"/>
            <a:ext cx="2000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>
                    <a:alpha val="86667"/>
                  </a:srgbClr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FFFFFF">
                    <a:alpha val="86667"/>
                  </a:srgbClr>
                </a:solidFill>
                <a:latin typeface="Microsoft YaHei UI"/>
                <a:ea typeface="Microsoft YaHei UI"/>
                <a:cs typeface="Microsoft YaHei UI"/>
              </a:rPr>
              <a:t>主题、发件人、摘要首句、分类、附件、分析状态、优先级。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0BFA57-C7CE-4BF5-BCCD-81E04C4BE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028950"/>
            <a:ext cx="2381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B10E9D-8F77-4B13-A54C-9A5638D30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2194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A0A0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0A0A0A"/>
                </a:solidFill>
                <a:latin typeface="Microsoft YaHei UI"/>
                <a:ea typeface="Microsoft YaHei UI"/>
                <a:cs typeface="Microsoft YaHei UI"/>
              </a:rPr>
              <a:t>右侧详情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43BF49-3679-47BF-9671-90C65EC9B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619500"/>
            <a:ext cx="2000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3737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737373"/>
                </a:solidFill>
                <a:latin typeface="Microsoft YaHei UI"/>
                <a:ea typeface="Microsoft YaHei UI"/>
                <a:cs typeface="Microsoft YaHei UI"/>
              </a:rPr>
              <a:t>摘要卡片、正文、附件下载、回复转发、当前邮件 Agent。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695ED7-2AAA-4D20-805B-B219358C3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028950"/>
            <a:ext cx="21907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A4F30B-A19E-40A9-AD2A-1C58A2D0A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21945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A0A0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0A0A0A"/>
                </a:solidFill>
                <a:latin typeface="Microsoft YaHei UI"/>
                <a:ea typeface="Microsoft YaHei UI"/>
                <a:cs typeface="Microsoft YaHei UI"/>
              </a:rPr>
              <a:t>写信面板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04EF21-FF0B-41C2-831B-E50EC23A1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619500"/>
            <a:ext cx="1809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3737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737373"/>
                </a:solidFill>
                <a:latin typeface="Microsoft YaHei UI"/>
                <a:ea typeface="Microsoft YaHei UI"/>
                <a:cs typeface="Microsoft YaHei UI"/>
              </a:rPr>
              <a:t>TO/CC/BCC、附件选择即上传、本地草稿自动保存。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6A90F8-D593-411F-9A74-C00ED9172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FEA89E-3AE8-4C64-8FFB-CD5DFEB4D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defRPr>
            </a:pPr>
            <a:r>
              <a:rPr sz="825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rPr>
              <a:t>UX · Desktop-first 1366px+ AI mail workspace</a:t>
            </a:r>
          </a:p>
        </p:txBody>
      </p:sp>
    </p:spTree>
    <p:extLst>
      <p:ext uri="{BB962C8B-B14F-4D97-AF65-F5344CB8AC3E}">
        <p14:creationId xmlns:p14="http://schemas.microsoft.com/office/powerpoint/2010/main" val="130622370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7C96A71-EA01-49FC-B992-FB0D2FA0A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defRPr>
            </a:pPr>
            <a:r>
              <a:rPr sz="825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rPr>
              <a:t>SMARTMAIL DEFENSE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9A2A62-FEE6-4D2B-82A2-A80966CC2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619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defRPr>
            </a:pPr>
            <a:r>
              <a:rPr sz="825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rPr>
              <a:t>08 / 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8FB4F0-F2C5-471E-B481-E7B88E9B0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rPr>
              <a:t>AUTOMATIC ANALYSIS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322E22-11FF-4448-AC30-1746D6869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8572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0A0A0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3150" b="0">
                <a:solidFill>
                  <a:srgbClr val="0A0A0A"/>
                </a:solidFill>
                <a:latin typeface="Microsoft YaHei UI"/>
                <a:ea typeface="Microsoft YaHei UI"/>
                <a:cs typeface="Microsoft YaHei UI"/>
              </a:rPr>
              <a:t>自动分析异步补齐，不阻塞邮件投递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A0CFCC-B9F0-4FD1-B3E3-C198E32E2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95500"/>
            <a:ext cx="800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3737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737373"/>
                </a:solidFill>
                <a:latin typeface="Microsoft YaHei UI"/>
                <a:ea typeface="Microsoft YaHei UI"/>
                <a:cs typeface="Microsoft YaHei UI"/>
              </a:rPr>
              <a:t>邮件先到收件箱，AI 摘要、分类、Junk、优先级和风险随后更新到视图模型。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1F84E1-4371-412B-9195-00BD81B86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43250"/>
            <a:ext cx="14097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EBBFFA-299F-413E-8401-14F457769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33750"/>
            <a:ext cx="1028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A0A0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0A0A0A"/>
                </a:solidFill>
                <a:latin typeface="Microsoft YaHei UI"/>
                <a:ea typeface="Microsoft YaHei UI"/>
                <a:cs typeface="Microsoft YaHei UI"/>
              </a:rPr>
              <a:t>投递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46D3D0-228F-442C-9B50-234E13A40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33800"/>
            <a:ext cx="1028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3737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737373"/>
                </a:solidFill>
                <a:latin typeface="Microsoft YaHei UI"/>
                <a:ea typeface="Microsoft YaHei UI"/>
                <a:cs typeface="Microsoft YaHei UI"/>
              </a:rPr>
              <a:t>mail_message + mailbox_item 同步落库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ABFA20-E440-402D-B2E4-49B81AC7F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676650"/>
            <a:ext cx="4381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2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AB1B6D-2821-4B18-9CA9-949D1E80A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143250"/>
            <a:ext cx="14097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9FA15B-9EA9-4202-BEFB-86A2C8C18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333750"/>
            <a:ext cx="1028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A0A0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0A0A0A"/>
                </a:solidFill>
                <a:latin typeface="Microsoft YaHei UI"/>
                <a:ea typeface="Microsoft YaHei UI"/>
                <a:cs typeface="Microsoft YaHei UI"/>
              </a:rPr>
              <a:t>任务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E9EA97-979F-4C18-A2AB-5F76C3338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733800"/>
            <a:ext cx="1028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3737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737373"/>
                </a:solidFill>
                <a:latin typeface="Microsoft YaHei UI"/>
                <a:ea typeface="Microsoft YaHei UI"/>
                <a:cs typeface="Microsoft YaHei UI"/>
              </a:rPr>
              <a:t>创建 ai_analysis_task，状态 PENDING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8D4EE3-7479-4BAB-9F65-68C69ADF2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676650"/>
            <a:ext cx="4381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2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F2DB09-9BB6-41A5-A1FC-AAF18C652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143250"/>
            <a:ext cx="14097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FA7"/>
          </a:solidFill>
          <a:ln xmlns:a="http://schemas.openxmlformats.org/drawingml/2006/main" w="0">
            <a:solidFill>
              <a:srgbClr val="002FA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4D53CE-A3B5-4325-B439-445F96641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333750"/>
            <a:ext cx="1028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Provider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E97C3D-72B5-4EA4-8C24-DDACD4078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733800"/>
            <a:ext cx="1028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>
                    <a:alpha val="86667"/>
                  </a:srgbClr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FFFFFF">
                    <a:alpha val="86667"/>
                  </a:srgbClr>
                </a:solidFill>
                <a:latin typeface="Microsoft YaHei UI"/>
                <a:ea typeface="Microsoft YaHei UI"/>
                <a:cs typeface="Microsoft YaHei UI"/>
              </a:rPr>
              <a:t>DeepSeek / RuleEngine / Mock fallback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119669-975C-4AD9-933B-7B924DFAF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676650"/>
            <a:ext cx="4381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2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40D3CE-B51B-4BEB-89A7-93CB4FA58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43250"/>
            <a:ext cx="14097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CF43FF-C83B-4819-B56D-02B83EB8D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33750"/>
            <a:ext cx="1028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A0A0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0A0A0A"/>
                </a:solidFill>
                <a:latin typeface="Microsoft YaHei UI"/>
                <a:ea typeface="Microsoft YaHei UI"/>
                <a:cs typeface="Microsoft YaHei UI"/>
              </a:rPr>
              <a:t>结果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D8B622-4051-4B83-A707-BA728A217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733800"/>
            <a:ext cx="1028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3737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737373"/>
                </a:solidFill>
                <a:latin typeface="Microsoft YaHei UI"/>
                <a:ea typeface="Microsoft YaHei UI"/>
                <a:cs typeface="Microsoft YaHei UI"/>
              </a:rPr>
              <a:t>summary, category, junk, priority, riskHints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CD05BC-18B0-49FB-978C-7872A8E35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676650"/>
            <a:ext cx="4381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2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2F0CBF-38A7-43F6-B2AD-67F6B357E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143250"/>
            <a:ext cx="14097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401D178-2605-46B8-A6C2-83A0BC5BA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333750"/>
            <a:ext cx="1028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A0A0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0A0A0A"/>
                </a:solidFill>
                <a:latin typeface="Microsoft YaHei UI"/>
                <a:ea typeface="Microsoft YaHei UI"/>
                <a:cs typeface="Microsoft YaHei UI"/>
              </a:rPr>
              <a:t>写回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A36B9AB-73CF-4C75-A17C-2E83E6E00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733800"/>
            <a:ext cx="1028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3737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737373"/>
                </a:solidFill>
                <a:latin typeface="Microsoft YaHei UI"/>
                <a:ea typeface="Microsoft YaHei UI"/>
                <a:cs typeface="Microsoft YaHei UI"/>
              </a:rPr>
              <a:t>保存 mail_ai_result，更新 task 状态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67D26F-BD28-41DA-9CDD-543311905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676650"/>
            <a:ext cx="4381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2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D105A51-619F-4BEC-A8D4-1DF449439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143250"/>
            <a:ext cx="14097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81DCD72-3B3E-47B7-A3F5-668547A23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333750"/>
            <a:ext cx="1028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A0A0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0A0A0A"/>
                </a:solidFill>
                <a:latin typeface="Microsoft YaHei UI"/>
                <a:ea typeface="Microsoft YaHei UI"/>
                <a:cs typeface="Microsoft YaHei UI"/>
              </a:rPr>
              <a:t>展示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906A264-336E-46A3-B5D3-0807087E6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733800"/>
            <a:ext cx="1028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3737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737373"/>
                </a:solidFill>
                <a:latin typeface="Microsoft YaHei UI"/>
                <a:ea typeface="Microsoft YaHei UI"/>
                <a:cs typeface="Microsoft YaHei UI"/>
              </a:rPr>
              <a:t>列表与详情展示 AI 结果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C9C5BB4-0CEF-4267-98AD-0DCD2D7DD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F017F75-73A2-4127-9234-1B21AE92D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defRPr>
            </a:pPr>
            <a:r>
              <a:rPr sz="825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rPr>
              <a:t>AI · Failure never blocks reading the original mail</a:t>
            </a:r>
          </a:p>
        </p:txBody>
      </p:sp>
    </p:spTree>
    <p:extLst>
      <p:ext uri="{BB962C8B-B14F-4D97-AF65-F5344CB8AC3E}">
        <p14:creationId xmlns:p14="http://schemas.microsoft.com/office/powerpoint/2010/main" val="183042097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A1FB8EB-B0F0-4D88-8B07-6718E5918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BE4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825" b="1">
                <a:solidFill>
                  <a:srgbClr val="DBE4FF"/>
                </a:solidFill>
                <a:latin typeface="JetBrains Mono"/>
                <a:ea typeface="JetBrains Mono"/>
                <a:cs typeface="JetBrains Mono"/>
              </a:rPr>
              <a:t>INTERACTIVE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C041AF-BBA4-4D3E-AC49-70A4BFC0D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619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DBE4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825" b="1">
                <a:solidFill>
                  <a:srgbClr val="DBE4FF"/>
                </a:solidFill>
                <a:latin typeface="JetBrains Mono"/>
                <a:ea typeface="JetBrains Mono"/>
                <a:cs typeface="JetBrains Mono"/>
              </a:rPr>
              <a:t>09 / 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06B3E3-2C7D-418B-A263-8BF37C9A3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23950"/>
            <a:ext cx="6191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3600" b="0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Agent 默认只读，</a:t>
            </a:r>
          </a:p>
          <a:p xmlns:a="http://schemas.openxmlformats.org/drawingml/2006/main">
            <a:pPr algn="l">
              <a:defRPr sz="3600" b="0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3600" b="0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写操作必须确认。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BF9446-5090-4A7E-B3A1-AE57E9940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143000"/>
            <a:ext cx="3333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645F34-639E-4604-B119-CCC061379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33350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A0A0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0A0A0A"/>
                </a:solidFill>
                <a:latin typeface="Microsoft YaHei UI"/>
                <a:ea typeface="Microsoft YaHei UI"/>
                <a:cs typeface="Microsoft YaHei UI"/>
              </a:rPr>
              <a:t>只读工具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314A2F-52C2-490A-AC81-7DC9EDE2F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733550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3737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737373"/>
                </a:solidFill>
                <a:latin typeface="Microsoft YaHei UI"/>
                <a:ea typeface="Microsoft YaHei UI"/>
                <a:cs typeface="Microsoft YaHei UI"/>
              </a:rPr>
              <a:t>读取当前邮件、搜索邮箱、归纳上下文，默认自动执行。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C364DB-EC14-4104-BDFC-4914BE0F7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476500"/>
            <a:ext cx="3333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FA7"/>
          </a:solidFill>
          <a:ln xmlns:a="http://schemas.openxmlformats.org/drawingml/2006/main" w="0">
            <a:solidFill>
              <a:srgbClr val="002FA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B16F37-399A-4620-80AA-F118E60A4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66700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待确认动作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A35DA7-3619-43FF-A567-33C1204EC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067050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>
                    <a:alpha val="86667"/>
                  </a:srgbClr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FFFFFF">
                    <a:alpha val="86667"/>
                  </a:srgbClr>
                </a:solidFill>
                <a:latin typeface="Microsoft YaHei UI"/>
                <a:ea typeface="Microsoft YaHei UI"/>
                <a:cs typeface="Microsoft YaHei UI"/>
              </a:rPr>
              <a:t>删除、移动、分类、设置优先级等写操作返回 pendingAction。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1F6A25-06D6-4B7E-81C9-E7F05843E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810000"/>
            <a:ext cx="3333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705C60-4B19-4EC7-8E7D-7AAE994D6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00050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A0A0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0A0A0A"/>
                </a:solidFill>
                <a:latin typeface="Microsoft YaHei UI"/>
                <a:ea typeface="Microsoft YaHei UI"/>
                <a:cs typeface="Microsoft YaHei UI"/>
              </a:rPr>
              <a:t>权限边界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48CD51-95FD-431B-83C6-E1EF3D1A3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400550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3737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737373"/>
                </a:solidFill>
                <a:latin typeface="Microsoft YaHei UI"/>
                <a:ea typeface="Microsoft YaHei UI"/>
                <a:cs typeface="Microsoft YaHei UI"/>
              </a:rPr>
              <a:t>Agent 不直连数据库；后端在确认执行时再次校验归属。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4EF523-2A1F-4F48-83A4-3A74AD556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24500"/>
            <a:ext cx="819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>
                    <a:alpha val="80000"/>
                  </a:srgbClr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FFFFFF">
                    <a:alpha val="80000"/>
                  </a:srgbClr>
                </a:solidFill>
                <a:latin typeface="Microsoft YaHei UI"/>
                <a:ea typeface="Microsoft YaHei UI"/>
                <a:cs typeface="Microsoft YaHei UI"/>
              </a:rPr>
              <a:t>X-Plugin-Token / X-Internal-Token / JWT 三段认证隔离服务边界。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30D4E8-7652-4BE1-AC6D-FD07721AE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EE9995-67A5-4ECB-9E2B-A30314090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>
                    <a:alpha val="60000"/>
                  </a:srgbClr>
                </a:solidFill>
                <a:latin typeface="JetBrains Mono"/>
                <a:ea typeface="JetBrains Mono"/>
                <a:cs typeface="JetBrains Mono"/>
              </a:defRPr>
            </a:pPr>
            <a:r>
              <a:rPr sz="825" b="1">
                <a:solidFill>
                  <a:srgbClr val="FFFFFF">
                    <a:alpha val="60000"/>
                  </a:srgbClr>
                </a:solidFill>
                <a:latin typeface="JetBrains Mono"/>
                <a:ea typeface="JetBrains Mono"/>
                <a:cs typeface="JetBrains Mono"/>
              </a:rPr>
              <a:t>SECURITY · Human-in-the-loop for write operations</a:t>
            </a:r>
          </a:p>
        </p:txBody>
      </p:sp>
    </p:spTree>
    <p:extLst>
      <p:ext uri="{BB962C8B-B14F-4D97-AF65-F5344CB8AC3E}">
        <p14:creationId xmlns:p14="http://schemas.microsoft.com/office/powerpoint/2010/main" val="52404492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6065BAA-A216-4B2D-A999-C2303BAC0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defRPr>
            </a:pPr>
            <a:r>
              <a:rPr sz="825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rPr>
              <a:t>SMARTMAIL DEFENSE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F40BEE-A729-4F98-BE28-AEB890206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619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defRPr>
            </a:pPr>
            <a:r>
              <a:rPr sz="825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rPr>
              <a:t>10 / 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319B9A-20E8-4465-8EFB-94C19A801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rPr>
              <a:t>IMPLEMENTATION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D59839-606B-46C7-A4FE-C36D180E1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8572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0A0A0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3150" b="0">
                <a:solidFill>
                  <a:srgbClr val="0A0A0A"/>
                </a:solidFill>
                <a:latin typeface="Microsoft YaHei UI"/>
                <a:ea typeface="Microsoft YaHei UI"/>
                <a:cs typeface="Microsoft YaHei UI"/>
              </a:rPr>
              <a:t>实现不是原型拼接，而是可运行的三端工程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EF1319-A01C-4D57-99EC-BB63F2F43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95500"/>
            <a:ext cx="800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3737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737373"/>
                </a:solidFill>
                <a:latin typeface="Microsoft YaHei UI"/>
                <a:ea typeface="Microsoft YaHei UI"/>
                <a:cs typeface="Microsoft YaHei UI"/>
              </a:rPr>
              <a:t>前后端、Agent、文档和测试已经形成完整项目结构。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91BF00-32EE-46C8-8418-88CE96A34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23812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BF7A86-5B87-41B3-A188-1FDE9CAB7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670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A0A0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0A0A0A"/>
                </a:solidFill>
                <a:latin typeface="Microsoft YaHei UI"/>
                <a:ea typeface="Microsoft YaHei UI"/>
                <a:cs typeface="Microsoft YaHei UI"/>
              </a:rPr>
              <a:t>Frontend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A7EC0C-175D-4F4F-A6D0-B31A3E560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67100"/>
            <a:ext cx="200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3737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737373"/>
                </a:solidFill>
                <a:latin typeface="Microsoft YaHei UI"/>
                <a:ea typeface="Microsoft YaHei UI"/>
                <a:cs typeface="Microsoft YaHei UI"/>
              </a:rPr>
              <a:t>Vue 3 + Vite + TypeScript + Element Plus + Pinia + Axios。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2E54C2-5070-494E-BDF4-D92D925D7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876550"/>
            <a:ext cx="23812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FA7"/>
          </a:solidFill>
          <a:ln xmlns:a="http://schemas.openxmlformats.org/drawingml/2006/main" w="0">
            <a:solidFill>
              <a:srgbClr val="002FA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3E9E54-C5D4-4D73-84FB-705D89B0D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0670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Backend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8324FE-EB3A-48AA-B142-217FFCA91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467100"/>
            <a:ext cx="200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>
                    <a:alpha val="86667"/>
                  </a:srgbClr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FFFFFF">
                    <a:alpha val="86667"/>
                  </a:srgbClr>
                </a:solidFill>
                <a:latin typeface="Microsoft YaHei UI"/>
                <a:ea typeface="Microsoft YaHei UI"/>
                <a:cs typeface="Microsoft YaHei UI"/>
              </a:rPr>
              <a:t>Java 17 + Spring Boot 3 + Spring Security + JWT + MyBatis-Plus + H2/MySQL。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2273E7-01BC-44C1-874D-44699652F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876550"/>
            <a:ext cx="23812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64E756-7217-4F5F-A8F6-9A8F1C605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670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A0A0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0A0A0A"/>
                </a:solidFill>
                <a:latin typeface="Microsoft YaHei UI"/>
                <a:ea typeface="Microsoft YaHei UI"/>
                <a:cs typeface="Microsoft YaHei UI"/>
              </a:rPr>
              <a:t>Agent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68CABD-E572-467F-A4BB-398B78DDC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467100"/>
            <a:ext cx="200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3737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737373"/>
                </a:solidFill>
                <a:latin typeface="Microsoft YaHei UI"/>
                <a:ea typeface="Microsoft YaHei UI"/>
                <a:cs typeface="Microsoft YaHei UI"/>
              </a:rPr>
              <a:t>Python FastAPI + Pydantic + httpx + Tool Router + RuleEngine + DeepSeek。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AEBA6D-8A81-459C-94A1-8C8FCFD82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876550"/>
            <a:ext cx="23812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F5CBC7-06B1-4B3C-80D8-84F232F69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0670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A0A0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0A0A0A"/>
                </a:solidFill>
                <a:latin typeface="Microsoft YaHei UI"/>
                <a:ea typeface="Microsoft YaHei UI"/>
                <a:cs typeface="Microsoft YaHei UI"/>
              </a:rPr>
              <a:t>Docs &amp; Tests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4A3311-E435-457A-B5E5-E42A63B23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467100"/>
            <a:ext cx="200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3737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737373"/>
                </a:solidFill>
                <a:latin typeface="Microsoft YaHei UI"/>
                <a:ea typeface="Microsoft YaHei UI"/>
                <a:cs typeface="Microsoft YaHei UI"/>
              </a:rPr>
              <a:t>需求、架构、API、集成、测试报告、计划书齐全。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15A017-795F-4031-A4EC-3CCD6CFCB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B643B2-98E6-43C3-98FD-5CCA800F5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defRPr>
            </a:pPr>
            <a:r>
              <a:rPr sz="825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rPr>
              <a:t>STACK · Vue / Spring Boot / FastAPI / DeepSeek / H2-MySQL</a:t>
            </a:r>
          </a:p>
        </p:txBody>
      </p:sp>
    </p:spTree>
    <p:extLst>
      <p:ext uri="{BB962C8B-B14F-4D97-AF65-F5344CB8AC3E}">
        <p14:creationId xmlns:p14="http://schemas.microsoft.com/office/powerpoint/2010/main" val="52665519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34957AA-1FD5-46B1-8676-534C3370C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defRPr>
            </a:pPr>
            <a:r>
              <a:rPr sz="825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rPr>
              <a:t>SMARTMAIL DEFENSE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2C96A4-CD5D-452B-A762-3E0315424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619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defRPr>
            </a:pPr>
            <a:r>
              <a:rPr sz="825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rPr>
              <a:t>11 / 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E24178-62B1-42A3-B54A-B622F3D79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rPr>
              <a:t>VALIDATION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442EB8-96A9-44BA-9C98-671902676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8572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0A0A0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3150" b="0">
                <a:solidFill>
                  <a:srgbClr val="0A0A0A"/>
                </a:solidFill>
                <a:latin typeface="Microsoft YaHei UI"/>
                <a:ea typeface="Microsoft YaHei UI"/>
                <a:cs typeface="Microsoft YaHei UI"/>
              </a:rPr>
              <a:t>基础系统全链路可用，AI 核心链路已打通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AF3C6A-651C-4D89-8FCF-28F8557C7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95500"/>
            <a:ext cx="800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3737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737373"/>
                </a:solidFill>
                <a:latin typeface="Microsoft YaHei UI"/>
                <a:ea typeface="Microsoft YaHei UI"/>
                <a:cs typeface="Microsoft YaHei UI"/>
              </a:rPr>
              <a:t>验收报告把完成质量分成基础功能、AI 能力、联调、测试和已知风险。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F37C89-6FB9-4FD0-9C66-A28280EF1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52750"/>
            <a:ext cx="2095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DB755E-50AA-41D4-B171-2077CE1A4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24200"/>
            <a:ext cx="209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002FA7"/>
                </a:solidFill>
                <a:latin typeface="Inter"/>
                <a:ea typeface="Inter"/>
                <a:cs typeface="Inter"/>
              </a:defRPr>
            </a:pPr>
            <a:r>
              <a:rPr sz="3600" b="0">
                <a:solidFill>
                  <a:srgbClr val="002FA7"/>
                </a:solidFill>
                <a:latin typeface="Inter"/>
                <a:ea typeface="Inter"/>
                <a:cs typeface="Inter"/>
              </a:rPr>
              <a:t>197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71B687-F4C9-416E-8371-D02539D62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719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defRPr>
            </a:pPr>
            <a:r>
              <a:rPr sz="825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rPr>
              <a:t>验收项清单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2A83CD-0667-41BC-B1FE-F1315A9F8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19550"/>
            <a:ext cx="209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3737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0">
                <a:solidFill>
                  <a:srgbClr val="737373"/>
                </a:solidFill>
                <a:latin typeface="Microsoft YaHei UI"/>
                <a:ea typeface="Microsoft YaHei UI"/>
                <a:cs typeface="Microsoft YaHei UI"/>
              </a:rPr>
              <a:t>覆盖认证、邮件、附件、搜索、AI、Agent、安全、文档。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664108-D629-45CC-A075-D70D5C718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952750"/>
            <a:ext cx="2095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9DCCC3-695D-49C9-B550-88430A925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124200"/>
            <a:ext cx="209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0A0A0A"/>
                </a:solidFill>
                <a:latin typeface="Inter"/>
                <a:ea typeface="Inter"/>
                <a:cs typeface="Inter"/>
              </a:defRPr>
            </a:pPr>
            <a:r>
              <a:rPr sz="3600" b="0">
                <a:solidFill>
                  <a:srgbClr val="0A0A0A"/>
                </a:solidFill>
                <a:latin typeface="Inter"/>
                <a:ea typeface="Inter"/>
                <a:cs typeface="Inter"/>
              </a:rPr>
              <a:t>186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384CA3-7ED8-48B8-BC05-67E9A4D1E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7719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defRPr>
            </a:pPr>
            <a:r>
              <a:rPr sz="825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rPr>
              <a:t>已实现项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DA79F9-21DC-4C0D-9D36-746B26405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019550"/>
            <a:ext cx="209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3737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0">
                <a:solidFill>
                  <a:srgbClr val="737373"/>
                </a:solidFill>
                <a:latin typeface="Microsoft YaHei UI"/>
                <a:ea typeface="Microsoft YaHei UI"/>
                <a:cs typeface="Microsoft YaHei UI"/>
              </a:rPr>
              <a:t>功能清单统计，仍有少量重点验收项和增强项。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EA8A13-611F-45E3-8E39-FACCD51AA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952750"/>
            <a:ext cx="2095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EFB53E-D9FC-4928-B4ED-63CAC9E40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124200"/>
            <a:ext cx="209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0A0A0A"/>
                </a:solidFill>
                <a:latin typeface="Inter"/>
                <a:ea typeface="Inter"/>
                <a:cs typeface="Inter"/>
              </a:defRPr>
            </a:pPr>
            <a:r>
              <a:rPr sz="3600" b="0">
                <a:solidFill>
                  <a:srgbClr val="0A0A0A"/>
                </a:solidFill>
                <a:latin typeface="Inter"/>
                <a:ea typeface="Inter"/>
                <a:cs typeface="Inter"/>
              </a:rPr>
              <a:t>35+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F224F7-F8B0-47D4-9BCF-E63D76AD8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7719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defRPr>
            </a:pPr>
            <a:r>
              <a:rPr sz="825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rPr>
              <a:t>后端测试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EDB04B-032F-4786-88B2-FE101A117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019550"/>
            <a:ext cx="209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3737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0">
                <a:solidFill>
                  <a:srgbClr val="737373"/>
                </a:solidFill>
                <a:latin typeface="Microsoft YaHei UI"/>
                <a:ea typeface="Microsoft YaHei UI"/>
                <a:cs typeface="Microsoft YaHei UI"/>
              </a:rPr>
              <a:t>Maven 单元与契约测试覆盖邮箱、安全、搜索、通知等。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F69A6F-FE22-4247-8FFF-CC5339281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952750"/>
            <a:ext cx="2095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9D5BD9-24C8-48B1-BC44-B76BFDA6D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124200"/>
            <a:ext cx="209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0A0A0A"/>
                </a:solidFill>
                <a:latin typeface="Inter"/>
                <a:ea typeface="Inter"/>
                <a:cs typeface="Inter"/>
              </a:defRPr>
            </a:pPr>
            <a:r>
              <a:rPr sz="3600" b="0">
                <a:solidFill>
                  <a:srgbClr val="0A0A0A"/>
                </a:solidFill>
                <a:latin typeface="Inter"/>
                <a:ea typeface="Inter"/>
                <a:cs typeface="Inter"/>
              </a:rPr>
              <a:t>33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EDCD0C-63C1-417B-B314-58BE33367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7719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defRPr>
            </a:pPr>
            <a:r>
              <a:rPr sz="825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rPr>
              <a:t>AGENT 测试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05FD2A-EA3E-492F-908F-B864BD580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019550"/>
            <a:ext cx="209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3737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0">
                <a:solidFill>
                  <a:srgbClr val="737373"/>
                </a:solidFill>
                <a:latin typeface="Microsoft YaHei UI"/>
                <a:ea typeface="Microsoft YaHei UI"/>
                <a:cs typeface="Microsoft YaHei UI"/>
              </a:rPr>
              <a:t>pytest 覆盖插件 API、Tool Router 和规则路径。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5F60293-8B62-47CD-A9F1-03335F7DA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1970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A0A0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0A0A0A"/>
                </a:solidFill>
                <a:latin typeface="Microsoft YaHei UI"/>
                <a:ea typeface="Microsoft YaHei UI"/>
                <a:cs typeface="Microsoft YaHei UI"/>
              </a:rPr>
              <a:t>答辩表述保持诚实：基础邮件系统已完整可用；AI 自动分析存在已定位问题，Agent 直连验证和全局搜索已通过。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CB8AA7-2842-4C83-AF6D-EDAF5F42C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63F8D70-C2BD-4D85-A886-1B0768CCA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defRPr>
            </a:pPr>
            <a:r>
              <a:rPr sz="825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rPr>
              <a:t>QA · docs/report/功能验收测试报告-v4-final-2026-07-07.md</a:t>
            </a:r>
          </a:p>
        </p:txBody>
      </p:sp>
    </p:spTree>
    <p:extLst>
      <p:ext uri="{BB962C8B-B14F-4D97-AF65-F5344CB8AC3E}">
        <p14:creationId xmlns:p14="http://schemas.microsoft.com/office/powerpoint/2010/main" val="18069275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0F0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6D2BFB2-72B3-4B9E-A727-13303F8E2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defRPr>
            </a:pPr>
            <a:r>
              <a:rPr sz="825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rPr>
              <a:t>SMARTMAIL DEFENSE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2BE81B-F441-4945-BF6D-61C4CCA5F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619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defRPr>
            </a:pPr>
            <a:r>
              <a:rPr sz="825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rPr>
              <a:t>12 / 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FA8FC2-ADCD-45C1-BCB4-E51E4A300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rPr>
              <a:t>DEMO PATH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601551-E87B-403D-A13A-290B6D914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8572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0A0A0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3150" b="0">
                <a:solidFill>
                  <a:srgbClr val="0A0A0A"/>
                </a:solidFill>
                <a:latin typeface="Microsoft YaHei UI"/>
                <a:ea typeface="Microsoft YaHei UI"/>
                <a:cs typeface="Microsoft YaHei UI"/>
              </a:rPr>
              <a:t>演示路线要短，但必须覆盖评分点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576807-658C-472E-BD03-EEDD3DE9E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95500"/>
            <a:ext cx="800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3737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737373"/>
                </a:solidFill>
                <a:latin typeface="Microsoft YaHei UI"/>
                <a:ea typeface="Microsoft YaHei UI"/>
                <a:cs typeface="Microsoft YaHei UI"/>
              </a:rPr>
              <a:t>用一个端到端故事证明系统不是散功能，而是可完成邮件工作流。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EAA50F-2F40-4BEB-816B-06726D285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71800"/>
            <a:ext cx="21907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667990-E47A-4A76-BCDF-18670E5F8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16230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A0A0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0A0A0A"/>
                </a:solidFill>
                <a:latin typeface="Microsoft YaHei UI"/>
                <a:ea typeface="Microsoft YaHei UI"/>
                <a:cs typeface="Microsoft YaHei UI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DE4786-7B30-47C2-B5FE-5961FB5DF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62350"/>
            <a:ext cx="1809750" cy="57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3737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737373"/>
                </a:solidFill>
                <a:latin typeface="Microsoft YaHei UI"/>
                <a:ea typeface="Microsoft YaHei UI"/>
                <a:cs typeface="Microsoft YaHei UI"/>
              </a:rPr>
              <a:t>注册登录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81702E-E1BE-4676-A33A-39CD81CCC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2971800"/>
            <a:ext cx="21907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1DEE2F-26A1-4427-84FE-3BD03DD96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316230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A0A0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0A0A0A"/>
                </a:solidFill>
                <a:latin typeface="Microsoft YaHei UI"/>
                <a:ea typeface="Microsoft YaHei UI"/>
                <a:cs typeface="Microsoft YaHei UI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B24060-4F3C-4894-ADC5-A65FF4FDE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3562350"/>
            <a:ext cx="1809750" cy="57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3737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737373"/>
                </a:solidFill>
                <a:latin typeface="Microsoft YaHei UI"/>
                <a:ea typeface="Microsoft YaHei UI"/>
                <a:cs typeface="Microsoft YaHei UI"/>
              </a:rPr>
              <a:t>发送含附件邮件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C3D2A1-9C50-4C9B-8BA5-5B2CF8FB1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971800"/>
            <a:ext cx="21907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21331D-B059-4DEA-9E98-1001020EA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16230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A0A0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0A0A0A"/>
                </a:solidFill>
                <a:latin typeface="Microsoft YaHei UI"/>
                <a:ea typeface="Microsoft YaHei UI"/>
                <a:cs typeface="Microsoft YaHei UI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D1D121-628B-48F8-90A3-C1A5BEC4E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562350"/>
            <a:ext cx="1809750" cy="57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3737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737373"/>
                </a:solidFill>
                <a:latin typeface="Microsoft YaHei UI"/>
                <a:ea typeface="Microsoft YaHei UI"/>
                <a:cs typeface="Microsoft YaHei UI"/>
              </a:rPr>
              <a:t>收件箱同步通知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F53F17-E344-465E-871E-7302A12B7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2971800"/>
            <a:ext cx="21907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ADA4D8-CA5B-45DF-818A-BADA4AFDA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316230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A0A0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0A0A0A"/>
                </a:solidFill>
                <a:latin typeface="Microsoft YaHei UI"/>
                <a:ea typeface="Microsoft YaHei UI"/>
                <a:cs typeface="Microsoft YaHei UI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733DD7-EE97-45B4-9A97-77B9632A5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3562350"/>
            <a:ext cx="1809750" cy="57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3737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737373"/>
                </a:solidFill>
                <a:latin typeface="Microsoft YaHei UI"/>
                <a:ea typeface="Microsoft YaHei UI"/>
                <a:cs typeface="Microsoft YaHei UI"/>
              </a:rPr>
              <a:t>搜索与分类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D0C0DB-31A6-48AB-BD25-366A652E2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33850"/>
            <a:ext cx="21907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A4E61E-4E4D-4907-83BE-3BEFFA52D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32435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A0A0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0A0A0A"/>
                </a:solidFill>
                <a:latin typeface="Microsoft YaHei UI"/>
                <a:ea typeface="Microsoft YaHei UI"/>
                <a:cs typeface="Microsoft YaHei UI"/>
              </a:rPr>
              <a:t>05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EE5062-B528-4F58-8B78-459AA8B44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24400"/>
            <a:ext cx="1809750" cy="57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3737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737373"/>
                </a:solidFill>
                <a:latin typeface="Microsoft YaHei UI"/>
                <a:ea typeface="Microsoft YaHei UI"/>
                <a:cs typeface="Microsoft YaHei UI"/>
              </a:rPr>
              <a:t>AI 摘要风险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78E8314-139F-4F53-BB24-8D737CEE6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4133850"/>
            <a:ext cx="21907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FA7"/>
          </a:solidFill>
          <a:ln xmlns:a="http://schemas.openxmlformats.org/drawingml/2006/main" w="0">
            <a:solidFill>
              <a:srgbClr val="002FA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3A05D7-D1CA-429C-95ED-35C65A1AE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432435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06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77A2C8A-3C71-4031-BBDC-49C23E087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4724400"/>
            <a:ext cx="1809750" cy="57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>
                    <a:alpha val="86667"/>
                  </a:srgbClr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FFFFFF">
                    <a:alpha val="86667"/>
                  </a:srgbClr>
                </a:solidFill>
                <a:latin typeface="Microsoft YaHei UI"/>
                <a:ea typeface="Microsoft YaHei UI"/>
                <a:cs typeface="Microsoft YaHei UI"/>
              </a:rPr>
              <a:t>当前邮件 Agent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93B2E11-01D1-4311-9FC1-03B22C6F3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133850"/>
            <a:ext cx="21907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53BE368-43FC-425C-9716-27F34DA95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32435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A0A0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0A0A0A"/>
                </a:solidFill>
                <a:latin typeface="Microsoft YaHei UI"/>
                <a:ea typeface="Microsoft YaHei UI"/>
                <a:cs typeface="Microsoft YaHei UI"/>
              </a:rPr>
              <a:t>07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1FB00F9-1827-4A98-97C0-D646EDFC9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724400"/>
            <a:ext cx="1809750" cy="57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3737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737373"/>
                </a:solidFill>
                <a:latin typeface="Microsoft YaHei UI"/>
                <a:ea typeface="Microsoft YaHei UI"/>
                <a:cs typeface="Microsoft YaHei UI"/>
              </a:rPr>
              <a:t>确认写操作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C9AC47B-399C-4825-B0F9-00A65D1EA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4133850"/>
            <a:ext cx="21907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A5FDCE3-B99A-4F5C-AA35-9727BB8F7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432435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A0A0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0A0A0A"/>
                </a:solidFill>
                <a:latin typeface="Microsoft YaHei UI"/>
                <a:ea typeface="Microsoft YaHei UI"/>
                <a:cs typeface="Microsoft YaHei UI"/>
              </a:rPr>
              <a:t>08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67843CD-03B2-44EE-96AC-0E7855B3D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4724400"/>
            <a:ext cx="1809750" cy="57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3737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737373"/>
                </a:solidFill>
                <a:latin typeface="Microsoft YaHei UI"/>
                <a:ea typeface="Microsoft YaHei UI"/>
                <a:cs typeface="Microsoft YaHei UI"/>
              </a:rPr>
              <a:t>关闭 AI 回退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5B84663-A9E1-4170-AFCB-E9AB79761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E83CDC4-933D-424C-B4AD-899A5F046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defRPr>
            </a:pPr>
            <a:r>
              <a:rPr sz="825" b="1">
                <a:solidFill>
                  <a:srgbClr val="737373"/>
                </a:solidFill>
                <a:latin typeface="JetBrains Mono"/>
                <a:ea typeface="JetBrains Mono"/>
                <a:cs typeface="JetBrains Mono"/>
              </a:rPr>
              <a:t>DEMO · Register → Send → Receive → Analyze → Agent → Confirm → Fallback</a:t>
            </a:r>
          </a:p>
        </p:txBody>
      </p:sp>
    </p:spTree>
    <p:extLst>
      <p:ext uri="{BB962C8B-B14F-4D97-AF65-F5344CB8AC3E}">
        <p14:creationId xmlns:p14="http://schemas.microsoft.com/office/powerpoint/2010/main" val="93711136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02FA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D47DA7C-BCB2-4F7F-8DB1-0F86E1977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BE4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825" b="1">
                <a:solidFill>
                  <a:srgbClr val="DBE4FF"/>
                </a:solidFill>
                <a:latin typeface="JetBrains Mono"/>
                <a:ea typeface="JetBrains Mono"/>
                <a:cs typeface="JetBrains Mono"/>
              </a:rPr>
              <a:t>CLOSING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AD8818-70F1-45E2-965B-C01938566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619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DBE4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825" b="1">
                <a:solidFill>
                  <a:srgbClr val="DBE4FF"/>
                </a:solidFill>
                <a:latin typeface="JetBrains Mono"/>
                <a:ea typeface="JetBrains Mono"/>
                <a:cs typeface="JetBrains Mono"/>
              </a:rPr>
              <a:t>13 / 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6E3AA2-F6F8-43DF-B388-8A010C4F9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6858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0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3450" b="0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SmartMail 的完成度，</a:t>
            </a:r>
          </a:p>
          <a:p xmlns:a="http://schemas.openxmlformats.org/drawingml/2006/main">
            <a:pPr algn="l">
              <a:defRPr sz="3450" b="0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3450" b="0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体现在边界清晰。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E46A58-3C4A-4DA2-A365-39267BEAD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238250"/>
            <a:ext cx="2857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25E72C-66CD-4462-A1B0-A514C53F0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4287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A0A0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0A0A0A"/>
                </a:solidFill>
                <a:latin typeface="Microsoft YaHei UI"/>
                <a:ea typeface="Microsoft YaHei UI"/>
                <a:cs typeface="Microsoft YaHei UI"/>
              </a:rPr>
              <a:t>01 基础可用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907891-A5D4-4028-8DD1-070A27BFA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8288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3737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737373"/>
                </a:solidFill>
                <a:latin typeface="Microsoft YaHei UI"/>
                <a:ea typeface="Microsoft YaHei UI"/>
                <a:cs typeface="Microsoft YaHei UI"/>
              </a:rPr>
              <a:t>AI 关闭时仍是完整邮箱。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0EB1E6-3457-440E-B36D-653DA82C1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381250"/>
            <a:ext cx="2857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A18B2E-8E9B-4F59-8BD9-89D4F4ACE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5717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A0A0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0A0A0A"/>
                </a:solidFill>
                <a:latin typeface="Microsoft YaHei UI"/>
                <a:ea typeface="Microsoft YaHei UI"/>
                <a:cs typeface="Microsoft YaHei UI"/>
              </a:rPr>
              <a:t>02 智能可插拔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3C75E0-356D-4810-A28C-E3C810CEE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9718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3737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737373"/>
                </a:solidFill>
                <a:latin typeface="Microsoft YaHei UI"/>
                <a:ea typeface="Microsoft YaHei UI"/>
                <a:cs typeface="Microsoft YaHei UI"/>
              </a:rPr>
              <a:t>AI 通过 Agent 服务和配置接入。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142492-ADBB-406B-A016-63167CC49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524250"/>
            <a:ext cx="2857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5DBA13-F8EC-4F99-8852-249B76589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7147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A0A0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0A0A0A"/>
                </a:solidFill>
                <a:latin typeface="Microsoft YaHei UI"/>
                <a:ea typeface="Microsoft YaHei UI"/>
                <a:cs typeface="Microsoft YaHei UI"/>
              </a:rPr>
              <a:t>03 工程可验收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752463-35C6-4B81-9EBD-12B2966DA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1148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3737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737373"/>
                </a:solidFill>
                <a:latin typeface="Microsoft YaHei UI"/>
                <a:ea typeface="Microsoft YaHei UI"/>
                <a:cs typeface="Microsoft YaHei UI"/>
              </a:rPr>
              <a:t>文档、测试、联调和演示路径齐全。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CE139A-137D-423E-914A-E607ABF52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626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550" b="0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谢谢。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CDEA27-21B3-40C3-A1B1-B642BCEDC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20C5FE-5B31-43CE-A1C4-E4AF8B92F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>
                    <a:alpha val="60000"/>
                  </a:srgbClr>
                </a:solidFill>
                <a:latin typeface="JetBrains Mono"/>
                <a:ea typeface="JetBrains Mono"/>
                <a:cs typeface="JetBrains Mono"/>
              </a:defRPr>
            </a:pPr>
            <a:r>
              <a:rPr sz="825" b="1">
                <a:solidFill>
                  <a:srgbClr val="FFFFFF">
                    <a:alpha val="60000"/>
                  </a:srgbClr>
                </a:solidFill>
                <a:latin typeface="JetBrains Mono"/>
                <a:ea typeface="JetBrains Mono"/>
                <a:cs typeface="JetBrains Mono"/>
              </a:rPr>
              <a:t>SMARTMAIL · SOFTWARE DEVELOPMENT TRAINING</a:t>
            </a:r>
          </a:p>
        </p:txBody>
      </p:sp>
    </p:spTree>
    <p:extLst>
      <p:ext uri="{BB962C8B-B14F-4D97-AF65-F5344CB8AC3E}">
        <p14:creationId xmlns:p14="http://schemas.microsoft.com/office/powerpoint/2010/main" val="66778936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2026-07-07T05:03:04.1050000Z</dcterms:created>
  <dcterms:modified xsi:type="dcterms:W3CDTF">2026-07-07T05:03:04.1060000Z</dcterms:modified>
</coreProperties>
</file>